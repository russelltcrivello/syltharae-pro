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0" y="1097280"/>
            <a:ext cx="3474720" cy="4389120"/>
          </a:xfrm>
          <a:prstGeom prst="roundRect">
            <a:avLst>
              <a:gd name="adj" fmla="val 12000"/>
            </a:avLst>
          </a:prstGeom>
          <a:solidFill>
            <a:srgbClr val="1B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156448" y="1389888"/>
            <a:ext cx="3236976" cy="4105656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40496" y="1682495"/>
            <a:ext cx="2999232" cy="3822191"/>
          </a:xfrm>
          <a:prstGeom prst="roundRect">
            <a:avLst>
              <a:gd name="adj" fmla="val 12000"/>
            </a:avLst>
          </a:prstGeom>
          <a:solidFill>
            <a:srgbClr val="1B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24544" y="1975104"/>
            <a:ext cx="2761487" cy="3538728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08592" y="2267712"/>
            <a:ext cx="2523744" cy="3255263"/>
          </a:xfrm>
          <a:prstGeom prst="roundRect">
            <a:avLst>
              <a:gd name="adj" fmla="val 12000"/>
            </a:avLst>
          </a:prstGeom>
          <a:solidFill>
            <a:srgbClr val="1B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92640" y="2560320"/>
            <a:ext cx="2286000" cy="297180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76688" y="2852928"/>
            <a:ext cx="2048255" cy="2688336"/>
          </a:xfrm>
          <a:prstGeom prst="roundRect">
            <a:avLst>
              <a:gd name="adj" fmla="val 12000"/>
            </a:avLst>
          </a:prstGeom>
          <a:solidFill>
            <a:srgbClr val="1B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460736" y="3145536"/>
            <a:ext cx="1810511" cy="240487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822960"/>
            <a:ext cx="91440" cy="50292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960120"/>
            <a:ext cx="7315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SYLTHARAE-PRO  /  TECHNICAL SYSTEM BRIEFING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645920"/>
            <a:ext cx="7498079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EBF3F9"/>
                </a:solidFill>
                <a:latin typeface="Aptos"/>
              </a:defRPr>
            </a:pPr>
            <a:r>
              <a:t>Information intelligence</a:t>
            </a:r>
            <a:br/>
            <a:r>
              <a:t>across mixed file collections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063240"/>
            <a:ext cx="63093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9AB1C3"/>
                </a:solidFill>
                <a:latin typeface="Aptos"/>
              </a:defRPr>
            </a:pPr>
            <a:r>
              <a:t>A code- and documentation-grounded examination of architecture, workflows, operations, security, and adoption considerations.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4663440"/>
            <a:ext cx="3200400" cy="475488"/>
          </a:xfrm>
          <a:prstGeom prst="roundRect">
            <a:avLst>
              <a:gd name="adj" fmla="val 12000"/>
            </a:avLst>
          </a:prstGeom>
          <a:solidFill>
            <a:srgbClr val="1B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4773168"/>
            <a:ext cx="2880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38D0CA"/>
                </a:solidFill>
                <a:latin typeface="Aptos"/>
              </a:defRPr>
            </a:pPr>
            <a:r>
              <a:t>Repository snapshot • 2.2.0 • 2026-10-16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61264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9AB1C3"/>
                </a:solidFill>
                <a:latin typeface="Aptos"/>
              </a:defRPr>
            </a:pPr>
            <a:r>
              <a:t>Research basis: checked-out repository at aa2b865a24c429e242a457a60d2aef84661389b2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README.md; docs/ARCHITECTURE.md; pyproject.toml; run_web.py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A Python / Flask and PostgreSQL information-intelligence application for ingesting, extracting, indexing, analyzing, preserving, and connecting mixed file collections.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What stands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Broad ingestion and forensic readers sit alongside search, detection, geo enrichment, analyst categorization, monitoring, reporting, jobs, and a browser UI.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Operating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One Flask application and one process per database. Slow tasks run as bounded worker threads and persist job state/events in PostgreSQL.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Adoption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Evaluate the supported formats and workflow fit, PostgreSQL operations, file retention/backup, security configuration, and AGPL obligations before production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Agenda &amp; evidence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docs/ARCHITECTURE.md; see appendix source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150875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01 / Orient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79552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Purpose, users, technical profile, value boundaries.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150875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02 / Understand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79552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Architecture, repository, request path, ingestion, search, detection, reporting.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08959"/>
            <a:ext cx="5486400" cy="150875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3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03 / Operate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75887"/>
            <a:ext cx="5120640" cy="79552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Prerequisites, configuration, installation paths, example flows, troubleshooting.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108959"/>
            <a:ext cx="5486400" cy="150875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255263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04 / 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675887"/>
            <a:ext cx="5120640" cy="79552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Security, quality, deployment, use cases, limitations, evidence index.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800599"/>
            <a:ext cx="5486400" cy="150875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946903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Evidence labels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67527"/>
            <a:ext cx="5120640" cy="79552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Implemented = source/test-backed. Documented = stated in repository documentation. Code-derived walkthroughs are not claimed as runtime-tested. Proposed = recommendation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Project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pyproject.toml; version.py; docs/ARCHITECTURE.md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Runtime &amp;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Python &gt;=3.10 (version metadata declares 3.10–3.12); Flask &gt;=3,&lt;4; server-rendered Jinja UI plus JSON APIs.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PostgreSQL via psycopg2; migrations are authoritative. Filesystem holds ingested bytes and runtime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Interfaces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Browser UI; numerous route modules; CLI entry point; import utility. Verify the specific workflows before relying on an individual command.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Optional capabilities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PDF, Office, OCR, ebook, audio, media, PST readers and Waitress via extras; system binaries/language packs may also be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Purpose, context &amp; intended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README.md; docs/DOMAIN_MODEL.md; docs/ARCHITECTURE.md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Problem addressed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Mixed-format collections are difficult to search and connect when content remains trapped in files, archives, scans, mail, media, and databases.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Core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Bring files into a managed collection; extract text and metadata; resolve content identity and occurrences; search and analyze; preserve traceable results.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Likely operators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Analysts, investigators, knowledge workers, collection administrators, and technical operators—roles inferred from UI domains and data model, not a published persona study.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Scope caution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The repository supports a general-purpose information intelligence workflow; it does not document a verified deployment sector, customer, or outcome.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EXECUTIVE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Value proposition: evidence vs inference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docs/ARCHITECTURE.md; see appendix source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Demonstrated characteristics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Content hash/context/path identity; durable job history; migration-led schema; registries for interface, user actions, and screen contracts; versioned detection/reporting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Operational implication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These choices can improve traceability, resumability, schema discipline, and consistency—provided operators configure and maintain the supporting database/filesystem.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Differentiating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A single application combines collection ingestion/search with downstream signal, rules/scenarios, geo, and reporting modules; this is a repository observation, not a comparative market claim.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Not established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No verified benchmarks, customer adoption, quantified productivity, scale guarantees, compliance certification, or production-readiness attestation found in the inspected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High-level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docs/ARCHITECTURE.md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965960" cy="1207008"/>
          </a:xfrm>
          <a:prstGeom prst="roundRect">
            <a:avLst>
              <a:gd name="adj" fmla="val 12000"/>
            </a:avLst>
          </a:prstGeom>
          <a:solidFill>
            <a:srgbClr val="1B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121408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38D0CA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14600"/>
            <a:ext cx="173736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50" b="0">
                <a:solidFill>
                  <a:srgbClr val="EBF3F9"/>
                </a:solidFill>
                <a:latin typeface="Aptos"/>
              </a:defRPr>
            </a:pPr>
            <a:r>
              <a:t>UI / API 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011680"/>
            <a:ext cx="1965960" cy="1207008"/>
          </a:xfrm>
          <a:prstGeom prst="roundRect">
            <a:avLst>
              <a:gd name="adj" fmla="val 12000"/>
            </a:avLst>
          </a:prstGeom>
          <a:solidFill>
            <a:srgbClr val="1B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2121408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38D0CA"/>
                </a:solidFill>
                <a:latin typeface="Aptos"/>
              </a:defRPr>
            </a:pPr>
            <a:r>
              <a:t>Nginx / proxy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2514600"/>
            <a:ext cx="173736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50" b="0">
                <a:solidFill>
                  <a:srgbClr val="EBF3F9"/>
                </a:solidFill>
                <a:latin typeface="Aptos"/>
              </a:defRPr>
            </a:pPr>
            <a:r>
              <a:t>TLS, limits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011680"/>
            <a:ext cx="1965960" cy="1207008"/>
          </a:xfrm>
          <a:prstGeom prst="roundRect">
            <a:avLst>
              <a:gd name="adj" fmla="val 12000"/>
            </a:avLst>
          </a:prstGeom>
          <a:solidFill>
            <a:srgbClr val="1B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8928" y="2121408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38D0CA"/>
                </a:solidFill>
                <a:latin typeface="Aptos"/>
              </a:defRPr>
            </a:pPr>
            <a:r>
              <a:t>WSGI / Flask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514600"/>
            <a:ext cx="173736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50" b="0">
                <a:solidFill>
                  <a:srgbClr val="EBF3F9"/>
                </a:solidFill>
                <a:latin typeface="Aptos"/>
              </a:defRPr>
            </a:pPr>
            <a:r>
              <a:t>single process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2011680"/>
            <a:ext cx="1965960" cy="1207008"/>
          </a:xfrm>
          <a:prstGeom prst="roundRect">
            <a:avLst>
              <a:gd name="adj" fmla="val 12000"/>
            </a:avLst>
          </a:prstGeom>
          <a:solidFill>
            <a:srgbClr val="1B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9208" y="2121408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38D0CA"/>
                </a:solidFill>
                <a:latin typeface="Aptos"/>
              </a:defRPr>
            </a:pPr>
            <a:r>
              <a:t>Routes +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2514600"/>
            <a:ext cx="173736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50" b="0">
                <a:solidFill>
                  <a:srgbClr val="EBF3F9"/>
                </a:solidFill>
                <a:latin typeface="Aptos"/>
              </a:defRPr>
            </a:pPr>
            <a:r>
              <a:t>HTTP → domain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2011680"/>
            <a:ext cx="1965960" cy="1207008"/>
          </a:xfrm>
          <a:prstGeom prst="roundRect">
            <a:avLst>
              <a:gd name="adj" fmla="val 12000"/>
            </a:avLst>
          </a:prstGeom>
          <a:solidFill>
            <a:srgbClr val="1B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9488" y="2121408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38D0CA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2514600"/>
            <a:ext cx="173736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50" b="0">
                <a:solidFill>
                  <a:srgbClr val="EBF3F9"/>
                </a:solidFill>
                <a:latin typeface="Aptos"/>
              </a:defRPr>
            </a:pPr>
            <a:r>
              <a:t>state / search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3977639"/>
            <a:ext cx="1965960" cy="1207008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98648" y="4087368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38D0CA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8648" y="4480559"/>
            <a:ext cx="173736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50" b="0">
                <a:solidFill>
                  <a:srgbClr val="EBF3F9"/>
                </a:solidFill>
                <a:latin typeface="Aptos"/>
              </a:defRPr>
            </a:pPr>
            <a:r>
              <a:t>read · extract · store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977639"/>
            <a:ext cx="1965960" cy="1207008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38928" y="4087368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38D0CA"/>
                </a:solidFill>
                <a:latin typeface="Aptos"/>
              </a:defRPr>
            </a:pPr>
            <a:r>
              <a:t>Readers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8928" y="4480559"/>
            <a:ext cx="173736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50" b="0">
                <a:solidFill>
                  <a:srgbClr val="EBF3F9"/>
                </a:solidFill>
                <a:latin typeface="Aptos"/>
              </a:defRPr>
            </a:pPr>
            <a:r>
              <a:t>format handlers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80" y="3977639"/>
            <a:ext cx="1965960" cy="1207008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79208" y="4087368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38D0CA"/>
                </a:solidFill>
                <a:latin typeface="Aptos"/>
              </a:defRPr>
            </a:pPr>
            <a:r>
              <a:t>Jobs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9208" y="4480559"/>
            <a:ext cx="173736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50" b="0">
                <a:solidFill>
                  <a:srgbClr val="EBF3F9"/>
                </a:solidFill>
                <a:latin typeface="Aptos"/>
              </a:defRPr>
            </a:pPr>
            <a:r>
              <a:t>thread pool + events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514600" y="2615184"/>
            <a:ext cx="246888" cy="0"/>
          </a:xfrm>
          <a:prstGeom prst="line">
            <a:avLst/>
          </a:prstGeom>
          <a:ln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754880" y="2615184"/>
            <a:ext cx="246888" cy="0"/>
          </a:xfrm>
          <a:prstGeom prst="line">
            <a:avLst/>
          </a:prstGeom>
          <a:ln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95160" y="2615184"/>
            <a:ext cx="246888" cy="0"/>
          </a:xfrm>
          <a:prstGeom prst="line">
            <a:avLst/>
          </a:prstGeom>
          <a:ln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235440" y="2615184"/>
            <a:ext cx="246888" cy="0"/>
          </a:xfrm>
          <a:prstGeom prst="line">
            <a:avLst/>
          </a:prstGeom>
          <a:ln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" y="5577840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9AB1C3"/>
                </a:solidFill>
                <a:latin typeface="Aptos"/>
              </a:defRPr>
            </a:pPr>
            <a:r>
              <a:t>Boundary: browser → HTTP/proxy → single Flask process → PostgreSQL + filesystem. Background work is threaded in-process.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Repository anatomy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repository tree; docs/ARCHITECTURE.md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Application 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apps/web (app, serving, deployment); Api/routes (HTTP endpoints); templates + static (UI); apps/cli and run_cli.py.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Domain &amp;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services/ (ingestion, jobs, detection, reporting, geo, retention, monitoring); pipeline/ (reader and progress workflow); reader_file/ (format readers).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core/ (security, search, registries, analytics, OCR, safety, reporting); database/ (bootstrap, migrations, query/data services); concurrency/.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Operations &amp; proof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settings/, .env.example, install.py, scripts/, deploy/, offline-bundle/, docs/, tests/ (unit, integration, security, JS).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Component responsibilities &amp;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docs/ARCHITECTURE.md; core/interfaces; core/experience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Routes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Parse and validate HTTP input, enforce endpoint authorization, call services, shape status/JSON/page responses.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Services /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Orchestrate domain work and own invariants; route-independent domain logic. Services coordinate ingestion, jobs, detection, reports, geo, and retention.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Pipeline / readers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Read → extract → store. Reader registry dispatches format handlers; storage pipeline writes extracted content, identity, provenance and progress.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Database /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Migrations and repositories own PostgreSQL state. Jinja/JavaScript presents pages and calls APIs; interface/action/experience registries describe portions of the UI contract.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Request lifecycle: browser to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Code-derived: docs/ARCHITECTURE.md; apps/web/app.py; Api/routes/*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Browser sends HTTP(S) request through proxy.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17012" y="3337560"/>
            <a:ext cx="146304" cy="0"/>
          </a:xfrm>
          <a:prstGeom prst="line">
            <a:avLst/>
          </a:prstGeom>
          <a:ln w="19050"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63316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8764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18764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8764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Gates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8764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Setup state, session/authentication, authorization, rate limiting and lockout checks.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77409" y="3337560"/>
            <a:ext cx="146304" cy="0"/>
          </a:xfrm>
          <a:prstGeom prst="line">
            <a:avLst/>
          </a:prstGeom>
          <a:ln w="19050"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23713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79161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79161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9161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Route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Route validates fields and invokes a service; query values are parameterized.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37806" y="3337560"/>
            <a:ext cx="146304" cy="0"/>
          </a:xfrm>
          <a:prstGeom prst="line">
            <a:avLst/>
          </a:prstGeom>
          <a:ln w="19050"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284110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39558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9558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9558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9558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Domain logic reads/writes PostgreSQL or creates a long-running job.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98203" y="3337560"/>
            <a:ext cx="146304" cy="0"/>
          </a:xfrm>
          <a:prstGeom prst="line">
            <a:avLst/>
          </a:prstGeom>
          <a:ln w="19050"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44507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99955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9955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9955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9955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Rendered page or JSON; failures mapped to status and message, not traceback body.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Ingestion: input to durable searchable 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Code-derived: docs/ARCHITECTURE.md; services/ingesting; pipeline; database/services/dedup_service.py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Select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Upload or server path (server paths require configured ingestion roots).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17012" y="3337560"/>
            <a:ext cx="146304" cy="0"/>
          </a:xfrm>
          <a:prstGeom prst="line">
            <a:avLst/>
          </a:prstGeom>
          <a:ln w="19050"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63316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8764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18764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8764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Queue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8764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Ingestion route creates a persisted job; job manager records lifecycle and events.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77409" y="3337560"/>
            <a:ext cx="146304" cy="0"/>
          </a:xfrm>
          <a:prstGeom prst="line">
            <a:avLst/>
          </a:prstGeom>
          <a:ln w="19050"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23713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79161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79161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9161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Read &amp; extract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Integrated reader dispatches formats; text, metadata, OCR or archive extraction as available.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37806" y="3337560"/>
            <a:ext cx="146304" cy="0"/>
          </a:xfrm>
          <a:prstGeom prst="line">
            <a:avLst/>
          </a:prstGeom>
          <a:ln w="19050"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284110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39558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9558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9558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Identity + 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9558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Hash bytes; combine hash with source/side context; attach path occurrences; deduplicate with database unique constraints.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98203" y="3337560"/>
            <a:ext cx="146304" cy="0"/>
          </a:xfrm>
          <a:prstGeom prst="line">
            <a:avLst/>
          </a:prstGeom>
          <a:ln w="19050"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44507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99955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9955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9955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Follow 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9955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Progress ledger supports resume; detection hooks may run; job events are persisted and shown to UI.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Search: query to paginated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Code-derived: docs/ARCHITECTURE.md; core/search; docs/search/PERFORMANCE_ARCHITECTURE.md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User submits text and any filters.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17012" y="3337560"/>
            <a:ext cx="146304" cy="0"/>
          </a:xfrm>
          <a:prstGeom prst="line">
            <a:avLst/>
          </a:prstGeom>
          <a:ln w="19050"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63316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8764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18764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8764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Resolve words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8764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Tokenizer and word resolution use indexed word keys.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77409" y="3337560"/>
            <a:ext cx="146304" cy="0"/>
          </a:xfrm>
          <a:prstGeom prst="line">
            <a:avLst/>
          </a:prstGeom>
          <a:ln w="19050"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23713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79161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79161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9161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Candidate 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Inverted word-to-content association table identifies candidates.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37806" y="3337560"/>
            <a:ext cx="146304" cy="0"/>
          </a:xfrm>
          <a:prstGeom prst="line">
            <a:avLst/>
          </a:prstGeom>
          <a:ln w="19050"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284110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39558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9558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9558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Filter &amp; rank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9558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Apply source/side/date/category constraints; retrieve content and create snippets/ranking.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98203" y="3337560"/>
            <a:ext cx="146304" cy="0"/>
          </a:xfrm>
          <a:prstGeom prst="line">
            <a:avLst/>
          </a:prstGeom>
          <a:ln w="19050"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44507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99955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9955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9955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Return page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9955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Cursor pagination; response reports exact/timed/skip count mode so total precision is explicit.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Signals, rules, scenarios &amp;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Code-derived: docs/ARCHITECTURE.md; services/detection; services/monitoring; services/reporting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Versioned detector run writes content signals and provenance.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17012" y="3337560"/>
            <a:ext cx="146304" cy="0"/>
          </a:xfrm>
          <a:prstGeom prst="line">
            <a:avLst/>
          </a:prstGeom>
          <a:ln w="19050"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63316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8764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18764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8764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Enrich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8764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Place/geo mentions can resolve through gazetteer and map-related services.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77409" y="3337560"/>
            <a:ext cx="146304" cy="0"/>
          </a:xfrm>
          <a:prstGeom prst="line">
            <a:avLst/>
          </a:prstGeom>
          <a:ln w="19050"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23713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79161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79161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9161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Monitoring rule engine and scenario engine persist evaluations/outcomes.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37806" y="3337560"/>
            <a:ext cx="146304" cy="0"/>
          </a:xfrm>
          <a:prstGeom prst="line">
            <a:avLst/>
          </a:prstGeom>
          <a:ln w="19050"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284110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39558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9558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9558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Notify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9558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Alerts/notifications follow qualifying evaluations.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98203" y="3337560"/>
            <a:ext cx="146304" cy="0"/>
          </a:xfrm>
          <a:prstGeom prst="line">
            <a:avLst/>
          </a:prstGeom>
          <a:ln w="19050"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44507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99955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9955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9955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9955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Definition registry creates report run, datasets, analyses and immutable artifacts with checksums.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Data model &amp; information handling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docs/ARCHITECTURE.md; docs/DATABASE.md; database/migrations/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Identity 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hashes = bytes; hash_contexts = bytes in source + side; paths = occurrences. Same content at multiple locations is represented once with multiple occurrences.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Content representation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contents stores search representation; contents_raw stores verbatim extracted text. Original file bytes are retained in the application storage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Provenance &amp; lifecycle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Detection runs and signals retain detector provenance; job_events preserve activity; reporting and selected analyst history are append-only/trigger protected.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Data movement caution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Database backups must include contents_raw; file bytes/runtime data also need filesystem backup. A database-only backup is incomplete for restoring originals.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Jobs, concurrency &amp; recoverability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docs/ARCHITECTURE.md; services/jobs/manager.py; job_state.py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Lifecycle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QUEUED → RUNNING, with PAUSED/CANCELLING and terminal COMPLETED, COMPLETED_WITH_WARNINGS, CANCELLED, FAILED states.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Bounded worker threads inside the single application process; max concurrent jobs configured through settings.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Events &amp;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JobRepository persists event stream; throttling samples high-frequency events. Browser pages can reload and recover history from PostgreSQL.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Failure semantics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Cancellation is cooperative. A job stuck CANCELLING remains visibly unresolved; process loss and multi-process deployment require careful evaluation because workers are in-process.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Search and analytical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docs/ARCHITECTURE.md; core/search; core/analytics; docs/perf/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Full-text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PostgreSQL-backed word index/inverted associations, filters, snippets, ranking and cursor pagination; query cost/total-count mode is surfaced.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Analytics &amp; narrative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core/analytics provides kinds, measures, profiles, thresholds and narrative modules; route/service inventory includes analytics and exports.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Information linking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Detection signals, identifiers, temporal and place intelligence, relationships, analyst categories and lineage enable cross-record exploration.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Limits to claims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No benchmark performance numbers asserted here. Dataset size, query mix, hardware, Postgres configuration, OCR load and count mode affect real outcomes.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Reader ecosystem &amp; extraction caveats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pyproject.toml; docs/CONFIGURATION.md; core/ocr; core/archive_safety.py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Format breadth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Repository includes handlers for office, PDF, email/mailboxes, archives, images/OCR, ebook, audio/video, databases, diagrams and structured data; exact support depends on handler and installed extras.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OCR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Tesseract preferred, then RapidOCR. Missing engines/language packs produce retryable unavailable-engine status rather than silent text success.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Archives &amp; 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Archive safety and nested extraction controls exist; encrypted or unsupported formats may require external tools/credentials and can fail.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Operational consequence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Inventory actual formats and language needs; run OCR self-check; assess hostile-file exposure, resource costs, retention, and extraction fidelity before broad ingestion.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Configuration model &amp; key settings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docs/CONFIGURATION.md; .env.example; apps/web/deployment.py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Precedence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OS environment → .env → data/settings.json → config.example.json → dataclass defaults. Restart after editing .env.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Core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FLASK_ENV, FLASK_DEBUG, FLASK_HOST/PORT, WSGI_SERVER, WAITRESS_THREADS, FLASK_SECRET_KEY, SOURCE_CODE_URL.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Database &amp;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DB_HOST/PORT/NAME/USER/PASSWORD; APP_ADMIN_USERNAME/PASSWORD for first admin; password minimum 12.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Data &amp; 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INGESTION_ROOTS confines server-path reads; TRUSTED_PROXY_COUNT must match proxy topology; APP_DATA_DIR defines runtime storage.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Install &amp; first-start sequence (documented path)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Documented/code-derived; exact production steps in docs/OPERATIONS.md; no live server test performed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Obtain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Clone/download the repository and select a reviewed version. This briefing examines the checked-out snapshot; no release tag was found.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17012" y="3337560"/>
            <a:ext cx="146304" cy="0"/>
          </a:xfrm>
          <a:prstGeom prst="line">
            <a:avLst/>
          </a:prstGeom>
          <a:ln w="19050"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63316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8764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18764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8764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Prepare 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8764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Create isolated Python 3.10–3.12 environment; install base and required optional extras for intended formats.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77409" y="3337560"/>
            <a:ext cx="146304" cy="0"/>
          </a:xfrm>
          <a:prstGeom prst="line">
            <a:avLst/>
          </a:prstGeom>
          <a:ln w="19050"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23713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79161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79161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9161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Prepare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9161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Provision DB and credentials; set environment / .env. Ensure application can create or upgrade schema per deployment policy.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37806" y="3337560"/>
            <a:ext cx="146304" cy="0"/>
          </a:xfrm>
          <a:prstGeom prst="line">
            <a:avLst/>
          </a:prstGeom>
          <a:ln w="19050"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284110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39558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9558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9558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Configure safely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9558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Set strong persistent secret, production mode, proxy count, ingestion roots, storage paths and backup policy.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98203" y="3337560"/>
            <a:ext cx="146304" cy="0"/>
          </a:xfrm>
          <a:prstGeom prst="line">
            <a:avLst/>
          </a:prstGeom>
          <a:ln w="19050">
            <a:solidFill>
              <a:srgbClr val="38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44507" y="1828800"/>
            <a:ext cx="2114092" cy="301752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99955" y="199339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9955" y="2016252"/>
            <a:ext cx="39319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A121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9955" y="2560320"/>
            <a:ext cx="18031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8D0CA"/>
                </a:solidFill>
                <a:latin typeface="Aptos"/>
              </a:defRPr>
            </a:pPr>
            <a:r>
              <a:t>Launch &amp; initialize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9955" y="3163824"/>
            <a:ext cx="1803196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>
                <a:solidFill>
                  <a:srgbClr val="EBF3F9"/>
                </a:solidFill>
                <a:latin typeface="Aptos"/>
              </a:defRPr>
            </a:pPr>
            <a:r>
              <a:t>Run python run_web.py; setup gate routes uninitialized instance to wizard. Verify service/DB, admin login and readiness before adding data.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Practical commands &amp; optional extras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pyproject.toml; docs/OPERATIONS.md; docs/TESTING.md; run_web.py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Install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python -m pip install -e .  (from repository root, in a virtual environment). Package name is file-analysis; Python &gt;=3.10.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Install feature 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pip install -e ".[pdf,office,ocr,ebook,audio,media,server]" — choose only needed extras; PST extra has native build prerequisites.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Run web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python run_web.py  |  optional console script: file-analysis-web. Defaults Flask dev server; Waitress opt-in via WSGI_SERVER=waitress.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Readiness &amp;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python verify_readiness.py; python -m pytest tests/unit -q (integration/security suites and requirements described in docs/TESTING.md). Commands are repository-documented; startup and ingestion were exercised, but the listed test suites were not run.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Deployment topology &amp; operational constraints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docs/ARCHITECTURE.md; docs/OPERATIONS.md; docs/DATABASE.md; deploy/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Supported shape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systemd service + nginx reverse proxy in deploy/. Nginx TLS/static/request limits; app receives trusted proxy headers only when configured.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Single-process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Exactly one application process per database. Multi-worker Gunicorn/uWSGI is not supported because jobs run as in-process threads.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Data &amp; backups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Back up PostgreSQL plus filesystem data (especially originals/runtime files). Restore-test database and file consistency.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Upgrade discipline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database.bootstrap/migration runner owns schema changes; migrations each transact and record schema_migrations. Historical database/SYLTHARAE.sql is not deploy authority.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Troubleshooting decision tree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docs/CONFIGURATION.md; docs/ARCHITECTURE.md; docs/OPERATIONS.md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150875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Cannot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79552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Check apps/web/deployment.py startup findings; invalid production debug setting is refused. Validate DB connection, env precedence, secret and WSGI option.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150875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First-run redirects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79552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Expected setup gate before schema/accounts are initialized. Complete wizard; do not bypass partially initialized state.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08959"/>
            <a:ext cx="5486400" cy="150875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3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Server-path ingest fails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75887"/>
            <a:ext cx="5120640" cy="79552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INGESTION_ROOTS empty disables server path ingestion; use upload or add approved absolute root. Check path safety/permissions.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108959"/>
            <a:ext cx="5486400" cy="150875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255263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Scan has no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675887"/>
            <a:ext cx="5120640" cy="79552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Run python tools/ci/ocr_selfcheck.py; verify Tesseract binary and eng/heb/ara packs, or RapidOCR availability. Retry after installing dependency.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800599"/>
            <a:ext cx="5486400" cy="150875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946903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Jobs stall / overloaded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67527"/>
            <a:ext cx="5120640" cy="79552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Inspect persisted job status/events; ensure single process; review thread capacity, database availability and resource limits; cancellation is cooperative.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Security controls evidenced in repository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docs/SECURITY.md; core/security; tests/security; core/path_safety.py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Identity &amp;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Authentication/session management, authorization decorators, lockouts and rate limits; endpoint and interface security tests exist.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Web protections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CSRF via Flask-WTF; security headers/CSP; deployment validation; proxy trust explicitly configured; session/secure cookie settings vary by environment.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Data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Parameterized SQL is policy; path safety confines server reads; archive safety and upload constraints mitigate unsafe inputs.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Audit &amp; integrity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Audit logging; immutable/trigger-protected selected history; checksums for report artifacts. Controls require configuration and do not establish overall security certification.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Security boundaries &amp; risk considerations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docs/SECURITY.md; docs/CONFIGURATION.md; .env.example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Trust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Browser/proxy ↔ Flask; app ↔ PostgreSQL; app ↔ filesystem; uploaded documents and optional decoders are untrusted inputs.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Secrets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Never commit .env; provision stable FLASK_SECRET_KEY and DB credentials using an enterprise secret store. Auto-generation is fallback, not secret lifecycle management.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Proxy hazards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Set TRUSTED_PROXY_COUNT only for the actual trusted chain; a wrong value can corrupt client IP attribution and rate-limit/lockout behavior.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Residual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Repository controls/tests are evidence, not an independent penetration test. Review dependency advisories, deployment hardening, threat model, privacy, retention and access boundaries.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Quality, testing &amp; observability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docs/TESTING.md; pyproject.toml; docs/OPERATIONS.md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Automated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pytest unit, integration (disposable PostgreSQL), security, JS smoke tests; Ruff and Bandit are declared dev tools.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Observable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Job status/event history, application logs, performance monitoring, health/readiness routes, error monitoring/recovery modules.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Evidence distinction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Presence of test files and CI/config does not prove all tests passed in this snapshot. Test execution was not performed for this briefing.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Operational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No quantified capacity guarantees or SLOs established. Run representative load, restore, upgrade, failure and security exercises on target infrastructure.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Distinctive architectural choices &amp; trade-offs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docs/ARCHITECTURE.md; tests/unit; database/migrations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Registries/contracts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Interface, action, and experience contract registries support generated documentation and tests to detect drift.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Database-led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Migrations are authoritative; deduplication uses unique constraints; foreign-key/deletion semantics and append-only records encode invariants.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Resumable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Progress ledger and persistent job events favor visibility/recovery over request-bound processing.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Trade-offs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Single process simplifies shared in-memory coordination but caps horizontal scaling of workers; PostgreSQL and filesystem form a coupled recovery boundary.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Enterprise evaluation scenarios (hypothetical)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Hypothetical scenarios derived from documented capabilities; no customer deployments asserted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Casework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Ingest a controlled evidence set → preserve source/side/path identity → search and detect signals. Validate provenance, chain-of-custody needs, access segregation and retention.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Records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Index mixed office/email/archive material and use search/filter/export. Validate supported formats, language/OCR quality, legal hold and data minimization.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Situation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Evaluate signals against rules/scenarios; surface notifications and build reports. Validate false-positive handling, detector versions, analyst review and alert delivery.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Knowledge 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Use source/side organization, category, lineage and reports to connect distributed files. Validate data ownership, usability, backup/recovery and concurrency limits.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Use-case validation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docs/ARCHITECTURE.md; see appendix source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1 / Fixture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Build representative, legally approved files across formats, languages, corruptions, duplicates and archive nesting; define expected extraction and provenance.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2 / Functional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Verify ingestion → search → categorization/detection → rule/report → export, including permission checks and failure cases.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3 /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Benchmark realistic query/ingestion mix; test job cancellation/restart, database outage, disk pressure, backup and restore.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4 /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Threat-model uploads/decoders; verify retention, audit access, secrets, AGPL obligations, privacy, data residency and operator controls.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Limitations, risks &amp; open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docs/OPERATIONS.md; docs/CONFIGURATION.md; pyproject.toml; assessment items are open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Scale &amp; resilience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Single-process threaded jobs limit horizontal worker scaling; no HA architecture or capacity guarantee established. What workload envelope is acceptable?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Format fidelity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Reader support is dependency- and version-sensitive; OCR quality, language packs, malformed/encrypted media behavior need corpus validation.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Deployment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No startup, install, functional smoke, or suite run performed for this deliverable. Verify supported OS, PostgreSQL versions, service upgrades and rollback on target.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Clarify access model/tenant isolation, retention/legal hold, privacy classification, source custody, AGPL compliance and incident response for intended deployment.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Prioritized improvement roadmap (recommendations)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Recommendations, not current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P0 / Adoption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Run reproducible install→ingest→search→backup/restore acceptance on target OS/DB; document supported versions and workload thresholds.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P1 / Resilience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If scale demands it, externalize job execution and define durable queue semantics; add multi-process-safe coordination and idempotent retry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P1 /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Independent threat model and penetration test; dependency/SBOM policy; secret manager integration; retention and authorization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P2 / Operability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Add baseline dashboards/SLOs, capacity and OCR corpus benchmarks, tested upgrade/rollback playbooks, and verified admin/operator runbooks.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Conclusion: 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docs/ARCHITECTURE.md; see appendix source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Verified 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Broad file-centric pipeline; persisted jobs and provenance; PostgreSQL migrations and identity model; search, detection, geo, reporting; explicit security/registry/testing machinery.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Material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Single-process worker model, coupled DB/filesystem recovery, optional native/OCR dependencies, and workload-specific behavior require validation.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Decision posture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Promising candidate for a controlled technical evaluation; this evidence alone is insufficient to declare production-ready, secure, scalable, or compliant.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Next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Select workload and formats → provision isolated test environment → execute validation plan → review security/licensing → approve operational architecture.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A live look at the SYLTHARAE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capture from running Flask app; source: templates/base.html; templates/Analysis/dashboard.html; docs/INTERFACE_REGISTRY.md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Operations widget surfaces new ingestion, imports, jobs and search entry points; here it reports the completed demo intake.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The dashboard provides overview/comprehensive/charts navigation; actual demo data comes from a synthetic two-file batch.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The shared shell includes breadcrumbs, account context, notifications and a registry-backed navigation menu.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818888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837176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4791456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Capture from the running application at 1600 × 1050 CSS viewport. Database and app were local sandbox services; user is a temporary demo admin.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2_dashboard_navigation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Search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search capture; synthetic demo corpus; templates/Search/search.html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AUTHENTIC • NOT A MOCKUP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The screenshot shows two real demo records for query CASE-DEMO-042.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Visible controls include standard, advanced and enhanced search views, query, scope, export actions and result 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Each row exposes filename, type, source, side, date and record actions; result count is 2 in this test collection.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818888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837176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4791456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Observed live result. The sample data is synthetic; implementation: Api/routes/search.py; core/search; Api/services/search_service.py.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20_search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Operations • Jobs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local application screen capture; templates/Operations/jobs.html; synthetic demo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AUTHENTIC • NOT A MOCKUP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This is the actual Jobs interface from the running demo instance.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The completed job is available in detail, with a separate list view in the gallery.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The job table and lifecycle actions are provided by the application—not a mock screen.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818888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837176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4791456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See the dedicated ingestion and completion sequence for test-data context.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19_jobs_comple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Settings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capture from Settings • templates/Settings/settings.html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AUTHENTIC • NOT A MOCKUP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The screenshot shows the actual Settings page and its tabs: General, Display, Themes, Search, Processing, Navigation, Geographic Locations, Notifications, Database, Storage, System.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The General tab displays branding settings; tab-specific values vary by active panel.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Environment variables outrank .env and persisted settings; processing controls mostly reside in settings store.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818888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837176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4791456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The screen is an authentic capture from the local instance; see docs/CONFIGURATION.md for precedence and supported names.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11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Ingestion studio: preflight before write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preflight capture from local running app; synthetic data only; 2026-10-16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The four-step intake flow binds files, source/side, processing options and launch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Synthetic demo batch: 2 uploaded text files; selected source “Arena Synthetic Case File” and side “Synthetic Training Set”.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Actual preflight returned 2 discovered, 2 to read, 0 unreadable, 770 B. Dry-run does not write ingested content.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818888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837176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4791456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Backend: Api/routes/operations_api.py, services/ingesting, pipeline reader, progress ledger. A later confirmed run completed successfully.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18_ingestion_pref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Search result: content enters 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result screenshot, synthetic sample corpus, 2026-10-16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Query CASE-DEMO-042 returned two actual demo records in the result 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Table exposes file name, type, size, source, side, date and record actions; export controls are visible above.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The ingested examples are synthetic training files, not customer or operational records.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818888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837176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4791456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Capture shows app response after actual ingestion; search route and repository implementation: Api/routes/search.py; core/search; Api/services/search_service.py.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20_search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Completed ingestion job: persisted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capture from completed local ingestion job; synthetic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Actual job reached COMPLETED at 100%; work ledger reports 4 of 4 units complete.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Job detail shows source, side, intake path, user, start/completion timestamps and current file.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Observed processing used two synthetic text files and one local PostgreSQL development cluster.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818888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837176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4791456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Job ID in the screenshot is local demo data. State/event implementation: services/jobs/job_state.py; services/jobs/manager.py; services/jobs/repository.py.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18_job_detail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Operations, monitoring &amp; analytics interfaces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Monitoring page capture; empty-state context is real for demo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This capture is the running Monitoring interface; dashboards for reports, signals, maps and analytics are separately implemented screens.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Empty/low-data state is a real UI state; the demo intake has no configured monitoring rules or geographic detections.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Feature interfaces: Signals, Detection, Map Viewer, Reports, Notifications and Schedules; screenshots are included in the companion gallery.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818888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837176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4791456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Interface source references: templates/Monitoring/monitoring.html; templates/Signals/*; templates/map/map_viewer.html; templates/Reports/*.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9_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Front-end implementation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Repository paths inspected; see deliverables/interface_inventory.md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Shell &amp; navigation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templates/base.html; templates/components/sidebar_nav.html; core/interfaces/*; static/css/styles.css; static/js/modules/core/navigation-swap.js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Search &amp; 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templates/Search/*; templates/file/*; templates/components/search_input.html, file_library_table.html, filter_bar.html, unified_pagination.html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Operational screens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templates/Operations/*; templates/Monitoring/*; templates/Signals/*; templates/Notifications/*; static/js/pages/jobs-page.js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Configuration &amp;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templates/Settings/*; templates/Reports/*; templates/map/map_viewer.html; templates/auth/*; static/css/Settings.css; static/css/reports.css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Responsive interface: real desktop and mobile captures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screenshots from /files at desktop 1600×1050 and mobile 390×844 CSS viewport; captured 2026-10-16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81328"/>
            <a:ext cx="6355080" cy="43434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file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45336"/>
            <a:ext cx="6227064" cy="40880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059168" y="1481328"/>
            <a:ext cx="2011680" cy="43434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41_mobile_file_libr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1545336"/>
            <a:ext cx="1883664" cy="407644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308592" y="1481328"/>
            <a:ext cx="2359152" cy="434340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1700784"/>
            <a:ext cx="19659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38D0CA"/>
                </a:solidFill>
                <a:latin typeface="Aptos"/>
              </a:defRPr>
            </a:pPr>
            <a:r>
              <a:t>OBSERVED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48840"/>
            <a:ext cx="1965960" cy="3383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EBF3F9"/>
                </a:solidFill>
                <a:latin typeface="Aptos"/>
              </a:defRPr>
            </a:pPr>
            <a:r>
              <a:t>The same File Library route served at two actual viewport sizes. The narrow layout exposes the menu control and responsive page shell.\n\nScreenshots are real rendered app pages; content reflects the demonstration database. This is a visual spot-check, not exhaustive breakpoint/accessibility testing.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961888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9AB1C3"/>
                </a:solidFill>
                <a:latin typeface="Aptos"/>
              </a:defRPr>
            </a:pPr>
            <a:r>
              <a:t>Source: templates/base.html • templates/file/files_list.html • static/css/responsive-fixes.css • static/js/responsive-fixes.js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Appendix A — Feature inventory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Feature matrix companion: deliverables/feature_matrix.csv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Collection &amp;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Upload/server-path ingestion; readers and OCR; archive traversal; metadata/text extraction; progress/resume; duplicates. Files: services/ingesting, pipeline/, reader_file/, core/ocr.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Search &amp; navigation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Tokenization, word/inverted index, filtering, snippets, cursor pagination, saved searches/history, file navigation/preview. Files: core/search, Api/services/search*, Api/routes/search.py.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Content identity &amp; lineage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Hash/context/path model; deduplication; provenance, path revisions, lineage and original-file access. Files: database/services/dedup_service.py; database/migrations; Api/services/lineage_service.py.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Analyst enrichment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Categories, identifiers, temporal/place signals, gazetteer/geo, maps, translations. Files: services/detection, services/geo, core/detection, services/map* and Api/routes.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Appendix A — Feature inventory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Companion feature matrix maps capability groups to evidence and slide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Jobs &amp;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Persistent jobs/events, pause/cancel, schedules, retention, health/performance/error monitoring, notifications. Files: services/jobs, services/retention, core/monitoring, Api/routes.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Monitoring &amp;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Rules/scenarios, evaluations/outcomes, report registry/runs/datasets/analyses/artifacts, exports. Files: services/monitoring, services/reporting, core/reporting.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Access &amp;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Authentication, authorization, audit, CSRF, rate limits, UI registries/contracts, localization, preferences. Files: core/security, core/experience, core/interfaces, translations/.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Import/export &amp; tooling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Import/export services, CLI/import utilities, setup/installer/readiness, deployment templates, offline bundle. Files: apps/, install.py, verify_readiness.py, deploy/, offline-bundle/.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Appendix B — Configuration quick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docs/CONFIGURATION.md; .env.example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Required to 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DB_HOST, DB_PORT, DB_NAME, DB_USER, DB_PASSWORD (or equivalent service-injected values). Confirm account/db provisioning and PostgreSQL 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Production 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FLASK_ENV=production; FLASK_DEBUG=false; stable FLASK_SECRET_KEY; WSGI_SERVER=waitress (install server extra); proxy count and bind host intentionally 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Ingestion / OCR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INGESTION_ROOTS for server paths; TESSERACT_CMD/TESSDATA_PREFIX as needed; install OCR extras and language packs; run OCR self-check.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Runtime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APP_DATA_DIR for logs/uploads/cache/checkpoints/settings; plan filesystem capacity, permissions and backup alongside PostgreSQL.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Appendix C — Dependencies &amp; external prerequisites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Evidence: pyproject.toml; requirements.txt; THIRD_PARTY_NOTICES.md; deploy/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Core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Flask, Flask-Babel, Flask-Limiter, Flask-WTF, Flask-Compress, psycopg2-binary, dotenv, psutil, PyYAML and reader-related packages.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Optional Python 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pdf: PyMuPDF/pypdf; office: python-docx/openpyxl/python-pptx/xlrd/odfpy; OCR: pytesseract/Pillow/RapidOCR/OpenCV headless; ebook/audio/media/PST/server extras.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PostgreSQL; filesystem storage; optional nginx/systemd; optional Waitress. Tesseract binary and traineddata; PST requires native C dependencies on many hosts.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Supply 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Version constraints are ranges rather than a single lockfile in pyproject; inspect requirements.txt/THIRD_PARTY_NOTICES.md and establish organization-specific pinning/scanning.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Appendix D — Quality evidence &amp; research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Repository metadata and inspection performed 2026-10-16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150875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Repository snapshot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79552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Checked out commit aa2b865a24c429e242a457a60d2aef84661389b2; project version 2.2.0; version.py build date 2026-09-26.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150875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History/release 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79552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Local history available only as a single shallow/base commit; no tags listed in checkout. Release history not independently reviewed.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08959"/>
            <a:ext cx="5486400" cy="150875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3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Executed in sandbox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75887"/>
            <a:ext cx="5120640" cy="79552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Installed Python extras; started bundled PostgreSQL; applied all 39 migrations; completed setup; captured live UI; ingested two synthetic files, ran preflight, confirmed job completion, and searched results.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108959"/>
            <a:ext cx="5486400" cy="150875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255263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Not executed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675887"/>
            <a:ext cx="5120640" cy="79552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The repository test suites, OCR self-check, full-format matrix, load test, backup/restore and independent security review were not performed. No production readiness is implied.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800599"/>
            <a:ext cx="5486400" cy="150875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946903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External audit limits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67527"/>
            <a:ext cx="5120640" cy="79552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No customer validation, compliance evidence, independent security review, benchmark, or production support SLA established.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Appendix E — Glossary &amp;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Stable source URLs: https://github.com/RussellTCrivello/SYLTHARAE-Pro/tree/aa2b865a24c429e242a457a60d2aef84661389b2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Hash / context /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Content digest / digest in source+side / concrete location occurrence.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Signal / rule /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Detector-produced observation / condition evaluated over signals / modeled multi-condition situation.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Job / 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Durable work lifecycle state / progress or activity record emitted during that lifecycle.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54780"/>
            <a:ext cx="5486400" cy="2354579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1084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8D0CA"/>
                </a:solidFill>
                <a:latin typeface="Aptos"/>
              </a:defRPr>
            </a:pPr>
            <a:r>
              <a:t>Primary source 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1708"/>
            <a:ext cx="5120640" cy="16413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50" b="0">
                <a:solidFill>
                  <a:srgbClr val="EBF3F9"/>
                </a:solidFill>
                <a:latin typeface="Aptos"/>
              </a:defRPr>
            </a:pPr>
            <a:r>
              <a:t>README.md; docs/ARCHITECTURE.md, CONFIGURATION.md, DATABASE.md, OPERATIONS.md, SECURITY.md, TESTING.md; pyproject.toml; .env.example; run_web.py; database/migrations; services/jobs; pipeline/.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Appendix F — Interface index (1–6 of 34)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Registry: docs/INTERFACE_REGISTRY.md; purpose is summarized by domain and template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898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4996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Dashboard  / 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8105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dashboard   •   endpoint: 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1031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templates/Analysis/dashboard.html\nRole: work workflow; see interface registry for role, visibility, dependencies and shortcut.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898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4996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File Library  /  DISCOVER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18105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file_library   •   endpoint: files.files_list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21031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templates/file/files_list.html\nRole: discover workflow; see interface registry for role, visibility, dependencies and shortcut.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900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30998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Search  /  DISCOVER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34107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search   •   endpoint: search_page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37033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templates/Search/search.html\nRole: discover workflow; see interface registry for role, visibility, dependencies and shortcut.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9900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30998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Sources  /  DISCOVER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34107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sources   •   endpoint: sources_list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37033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templates/Sources/sources_list.html\nRole: discover workflow; see interface registry for role, visibility, dependencies and shortcut.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5902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47000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Sides  /  DISCOVER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50109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sides   •   endpoint: sides_list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53035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templates/Side/sides_list.html\nRole: discover workflow; see interface registry for role, visibility, dependencies and shortcut.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5902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504" y="47000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Keywords  /  DISCOVER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50109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keywords   •   endpoint: keywords_list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8504" y="53035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templates/Keyword/keywords_list.html\nRole: discover workflow; see interface registry for role, visibility, dependencies and shortcut.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Appendix F — Interface index (7–12 of 34)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Registry: docs/INTERFACE_REGISTRY.md; purpose is summarized by domain and template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898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4996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Words  /  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8105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words   •   endpoint: words_list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1031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templates/Word/Word_list.html\nRole: discover workflow; see interface registry for role, visibility, dependencies and shortcut.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898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4996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Categories  /  DISCOVER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18105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categories   •   endpoint: categories_list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21031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templates/Category/categories_list.html\nRole: discover workflow; see interface registry for role, visibility, dependencies and shortcut.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900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30998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Email Words  /  DISCOVER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34107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email_words   •   endpoint: email_words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37033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templates/email_words/email_words.html\nRole: discover workflow; see interface registry for role, visibility, dependencies and shortcut.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9900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30998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Notifications  /  DISCOVER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34107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notifications   •   endpoint: notifications_page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37033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templates/Notifications/notifications.html\nRole: discover workflow; see interface registry for role, visibility, dependencies and shortcut.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5902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47000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Horizon &amp; Signal Explorer  /  DISCOVER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50109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signal_horizon   •   endpoint: signals_page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53035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templates/Signals/signals.html\nRole: discover workflow; see interface registry for role, visibility, dependencies and shortcut.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5902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504" y="47000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Monitoring  /  DISCOVER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50109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monitoring   •   endpoint: monitoring_page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8504" y="53035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templates/Monitoring/monitoring.html\nRole: discover workflow; see interface registry for role, visibility, dependencies and shortcut.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Appendix F — Interface index (13–18 of 34)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Registry: docs/INTERFACE_REGISTRY.md; purpose is summarized by domain and template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898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4996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Input / Ingestion  /  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8105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input_ingestion   •   endpoint: operations_input_page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1031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templates/Operations/input.html\nRole: ingest workflow; see interface registry for role, visibility, dependencies and shortcut.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898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4996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Import Center  /  INGEST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18105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import_center   •   endpoint: operations_import_page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21031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templates/Operations/import_center.html\nRole: ingest workflow; see interface registry for role, visibility, dependencies and shortcut.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900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30998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File Management and Analysis  /  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34107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archives   •   endpoint: archives_page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37033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templates/file/File_Management_Analysis_System.html\nRole: analyze workflow; see interface registry for role, visibility, dependencies and shortcut.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9900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30998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Path Analysis  /  ANALYZE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34107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path_analysis   •   endpoint: path_analysis_page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37033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templates/Analysis/path_analysis.html\nRole: analyze workflow; see interface registry for role, visibility, dependencies and shortcut.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5902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47000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Map Viewer  /  ANALYZE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50109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map_viewer   •   endpoint: map_viewer_page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53035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templates/map/map_viewer.html\nRole: analyze workflow; see interface registry for role, visibility, dependencies and shortcut.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5902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504" y="47000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Batch Analysis  /  ANALYZE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50109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batch_analysis   •   endpoint: analysis_batch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8504" y="53035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templates/Analysis/analysis_batch.html\nRole: analyze workflow; see interface registry for role, visibility, dependencies and shortcut.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Appendix F — Interface index (19–24 of 34)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Registry: docs/INTERFACE_REGISTRY.md; purpose is summarized by domain and template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898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4996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Analyst Categories  /  CLASSIFY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8105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analyst_categorization   •   endpoint: analyst_categorization_page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1031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templates/Analyst/analyst_categorization.html\nRole: classify workflow; see interface registry for role, visibility, dependencies and shortcut.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898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4996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Classification  /  CLASSIFY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18105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classification   •   endpoint: file_classification_page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21031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templates/Analysis/file_classification.html\nRole: classify workflow; see interface registry for role, visibility, dependencies and shortcut.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900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30998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Comprehensive Dashboard  / 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34107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comprehensive_dashboard   •   endpoint: comprehensive_dashboard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37033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templates/Analysis/comprehensive_dashboard.html\nRole: report workflow; see interface registry for role, visibility, dependencies and shortcut.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9900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30998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Reports  / 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34107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reports   •   endpoint: reports_page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37033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templates/Reports/reports.html\nRole: report workflow; see interface registry for role, visibility, dependencies and shortcut.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5902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47000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Reports Dashboard  / 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50109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reports_dashboard   •   endpoint: reports_dashboard_page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53035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templates/Reports/dashboard.html\nRole: report workflow; see interface registry for role, visibility, dependencies and shortcut.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5902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504" y="47000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Schedules  / 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50109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schedules   •   endpoint: schedules_page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8504" y="53035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templates/Scheduling/schedules.html\nRole: report workflow; see interface registry for role, visibility, dependencies and shortcut.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Appendix F — Interface index (25–30 of 34)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Registry: docs/INTERFACE_REGISTRY.md; purpose is summarized by domain and template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898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4996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Charts Dashboard  / 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8105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charts_dashboard   •   endpoint: charts_dashboard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1031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templates/Analysis/charts_dashboard.html\nRole: report workflow; see interface registry for role, visibility, dependencies and shortcut.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898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4996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Detection  /  OPERATE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18105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detection   •   endpoint: detection_page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21031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templates/Signals/detection.html\nRole: operate workflow; see interface registry for role, visibility, dependencies and shortcut.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900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30998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Jobs  /  OPERATE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34107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jobs   •   endpoint: operations_jobs_page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37033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templates/Operations/jobs.html\nRole: operate workflow; see interface registry for role, visibility, dependencies and shortcut.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9900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30998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Import/Export  /  OPERATE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34107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import_export_console   •   endpoint: import_export_page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37033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templates/ImportExport/import_export.html\nRole: operate workflow; see interface registry for role, visibility, dependencies and shortcut.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5902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47000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Retention  /  ADMINISTRATION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50109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retention   •   endpoint: retention_page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53035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templates/Retention/retention.html\nRole: administration workflow; see interface registry for role, visibility, dependencies and shortcut.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5902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504" y="47000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User Management  /  ADMINISTRATION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50109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users   •   endpoint: users_page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8504" y="53035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templates/auth/users.html\nRole: administration workflow; see interface registry for role, visibility, dependencies and shortcut.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Appendix F — Interface index (31–34 of 34)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Registry: docs/INTERFACE_REGISTRY.md; purpose is summarized by domain and template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898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4996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Audit Log  /  ADMINISTRATION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8105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audit_log   •   endpoint: audit_page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1031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templates/auth/audit.html\nRole: administration workflow; see interface registry for role, visibility, dependencies and shortcut.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898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4996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Settings  /  SETTINGS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18105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settings   •   endpoint: settings_page_direct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21031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templates/Settings/settings.html\nRole: settings workflow; see interface registry for role, visibility, dependencies and shortcut.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900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30998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Translation Management  /  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34107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translation_manager   •   endpoint: translations.translation_management_page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37033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templates/Settings/translation_manager.html\nRole: settings workflow; see interface registry for role, visibility, dependencies and shortcut.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990088"/>
            <a:ext cx="5394960" cy="1399032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3099816"/>
            <a:ext cx="5074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8D0CA"/>
                </a:solidFill>
                <a:latin typeface="Aptos"/>
              </a:defRPr>
            </a:pPr>
            <a:r>
              <a:t>Concurrency Monitor  /  INTERNAL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3410712"/>
            <a:ext cx="5074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EBF3F9"/>
                </a:solidFill>
                <a:latin typeface="Aptos"/>
              </a:defRPr>
            </a:pPr>
            <a:r>
              <a:t>ID: concurrency_monitor   •   endpoint: concurrency.dashboard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3703320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9AB1C3"/>
                </a:solidFill>
                <a:latin typeface="Aptos"/>
              </a:defRPr>
            </a:pPr>
            <a:r>
              <a:t>Source: templates/concurrency/dashboard.html\nRole: internal workflow; see interface registry for role, visibility, dependencies and shortcut.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dashboard • templates/Analysis/dashboard.html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Work interface • canonical route: index.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Collection overview, analytics navigation and operations summary.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templates/Analysis/dashboard.html.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File Library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file_library • templates/file/files_list.html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Discover interface • canonical route: files.files_list.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Browse indexed records, filter, select and open file actions.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templates/file/files_list.html.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3_file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search • templates/Search/search.html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Discover interface • canonical route: search_page.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Query content; inspect results; use search modes, pagination and exports.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templates/Search/search.html.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20_search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sources • templates/Sources/sources_list.html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Discover interface • canonical route: sources_list.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Manage source entities associated with ingested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templates/Sources/sources_list.html.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7_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Sides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sides • templates/Side/sides_list.html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Discover interface • canonical route: sides_list.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Manage side/collection context paired with sources.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templates/Side/sides_list.html.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8_s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Keywords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keywords • templates/Keyword/keywords_list.html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Discover interface • canonical route: keywords_list.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Review and maintain keyword vocabulary and relationships.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templates/Keyword/keywords_list.html.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9_key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words • templates/Word/Word_list.html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Discover interface • canonical route: words_list.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Explore indexed word vocabulary and associations.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templates/Word/Word_list.html.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20_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categories • templates/Category/categories_list.html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Discover interface • canonical route: categories_list.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Manage classification categories and their content relationships.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templates/Category/categories_list.html.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21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Email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email_words • templates/email_words/email_words.html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Discover interface • canonical route: email_words.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Explore extracted email-like terms.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templates/email_words/email_words.html.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22_email_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Notifications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notifications • templates/Notifications/notifications.html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Discover interface • canonical route: notifications_page.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Review alert and notification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templates/Notifications/notifications.html.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23_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Horizon &amp; Signal Explorer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signal_horizon • templates/Signals/signals.html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Discover interface • canonical route: signals_page.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Explore detected signals across time/horizon.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templates/Signals/signals.html.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7_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monitoring • templates/Monitoring/monitoring.html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Discover interface • canonical route: monitoring_page.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Manage or review monitoring rules and evaluations.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templates/Monitoring/monitoring.html.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9_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Input / Ingestion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input_ingestion • templates/Operations/input.html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Ingest interface • canonical route: operations_input_page.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Upload or select input; classify source/side; configure processing; run preflight.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templates/Operations/input.html.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5_input_ing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Import Center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import_center • templates/Operations/import_center.html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Ingest interface • canonical route: operations_import_page.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Import domain or backup data through an operations screen.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templates/Operations/import_center.html.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30_import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File Management and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archives • templates/file/File_Management_Analysis_System.html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Analyze interface • canonical route: archives_page.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File management and analysis workspace.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templates/file/File_Management_Analysis_System.html.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31_arch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Path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path_analysis • templates/Analysis/path_analysis.html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Analyze interface • canonical route: path_analysis_page.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Analyze directory/path relationships.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templates/Analysis/path_analysis.html.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24_path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Map Viewer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map_viewer • templates/map/map_viewer.html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Analyze interface • canonical route: map_viewer_page.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Geographic exploration of place-related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templates/map/map_viewer.html.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2_map_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Batch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batch_analysis • templates/Analysis/analysis_batch.html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Analyze interface • canonical route: analysis_batch.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Submit and inspect batch analysis operations.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templates/Analysis/analysis_batch.html.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25_batch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Analyst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analyst_categorization • templates/Analyst/analyst_categorization.html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Classify interface • canonical route: analyst_categorization_page.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Assign analyst categories to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templates/Analyst/analyst_categorization.html.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3_analyst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classification • templates/Analysis/file_classification.html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Classify interface • canonical route: file_classification_page.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Review file classification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templates/Analysis/file_classification.html.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47_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Comprehensive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comprehensive_dashboard • templates/Analysis/comprehensive_dashboard.html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Report interface • canonical route: comprehensive_dashboard.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Switchable analytical dashboard views.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templates/Analysis/comprehensive_dashboard.html.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26_comprehensiv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reports • templates/Reports/reports.html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Report interface • canonical route: reports_page.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Browse and run report definitions.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templates/Reports/reports.html.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0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Reports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reports_dashboard • templates/Reports/dashboard.html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Report interface • canonical route: reports_dashboard_page.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View report-oriented dashboard summaries.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templates/Reports/dashboard.html.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28_report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Schedules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schedules • templates/Scheduling/schedules.html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Report interface • canonical route: schedules_page.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Manage scheduled report or operation runs.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templates/Scheduling/schedules.html.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29_sche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Charts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charts_dashboard • templates/Analysis/charts_dashboard.html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78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Report interface • canonical route: charts_dashboard.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Chart-centric analytical 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templates/Analysis/charts_dashboard.html.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27_chart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detection • templates/Signals/detection.html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Operate interface • canonical route: detection_page.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Configure or invoke signal detection workflows.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templates/Signals/detection.html.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Jobs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jobs • templates/Operations/jobs.html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Operate interface • canonical route: operations_jobs_page.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Review durable background jobs and lifecycle status.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templates/Operations/jobs.html.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6_j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Import/Export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import_export_console • templates/ImportExport/import_export.html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Operate interface • canonical route: import_export_page.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Administrator-facing structured import/export surfaces.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templates/ImportExport/import_export.html.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4_import_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Retention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retention • templates/Retention/retention.html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Administration interface • canonical route: retention_page.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Review retention policy and schedule operations.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templates/Retention/retention.html.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5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User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users • templates/auth/users.html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Administration interface • canonical route: users_page.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Manage user accounts and roles.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templates/auth/users.html.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34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Audit 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audit_log • templates/auth/audit.html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Administration interface • canonical route: audit_page.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Review audited actions.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templates/auth/audit.html.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6_audit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Settings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settings • templates/Settings/settings.html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Settings interface • canonical route: settings_page_direct.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Configure application, theme, processing, database and storage preferences.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templates/Settings/settings.html.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1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Translation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translation_manager • templates/Settings/translation_manager.html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Settings interface • canonical route: translations.translation_management_page.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Maintain translated UI catalog surfaces.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templates/Settings/translation_manager.html.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32_translation_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Concurrency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interface ID concurrency_monitor • templates/concurrency/dashboard.html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Internal interface • canonical route: concurrency.dashboard.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Observe thread/job/resource concurrency state.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Implementation reference: templates/concurrency/dashboard.html. Capture shows the actual running application state; data/empty states are from the synthetic demo instance.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33_concurrency_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Authentication — sign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templates/auth/login.html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88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Operational/secondary interface captured from the live local application.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Sign-in form and localized session entry.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Source: templates/auth/login.html. Screenshot is authentic; content is the synthetic demo record or the actual setup/login state.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0_login_authen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First-run setup wizard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templates/Setup/install_wizard.html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Operational/secondary interface captured from the live local application.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Five-step first-run setup: system check, database, admin/security, settings, install.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Source: templates/Setup/install_wizard.html. Screenshot is authentic; content is the synthetic demo record or the actual setup/login state.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1_setup_wizard_authen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File detail &amp; extracted metadata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templates/file/file_detail.html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Operational/secondary interface captured from the live local application.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Record-level details, provenance, actions and extracted metadata.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Source: templates/file/file_detail.html. Screenshot is authentic; content is the synthetic demo record or the actual setup/login state.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45_file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38D0CA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EBF3F9"/>
                </a:solidFill>
                <a:latin typeface="Aptos"/>
              </a:defRPr>
            </a:pPr>
            <a:r>
              <a:t>Interface reference — Full-text reader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02920" cy="32004"/>
          </a:xfrm>
          <a:prstGeom prst="rect">
            <a:avLst/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9AB1C3"/>
                </a:solidFill>
                <a:latin typeface="Aptos"/>
              </a:defRPr>
            </a:pPr>
            <a:r>
              <a:t>Authentic live screen capture • templates/file/full_content.html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38D0CA"/>
                </a:solidFill>
                <a:latin typeface="Aptos"/>
              </a:defRPr>
            </a:pPr>
            <a:r>
              <a:t>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709160"/>
          </a:xfrm>
          <a:prstGeom prst="roundRect">
            <a:avLst>
              <a:gd name="adj" fmla="val 12000"/>
            </a:avLst>
          </a:prstGeom>
          <a:solidFill>
            <a:srgbClr val="14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8D0CA"/>
                </a:solidFill>
                <a:latin typeface="Aptos"/>
              </a:defRPr>
            </a:pPr>
            <a:r>
              <a:t>LIVE PRODUCT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8D7A4"/>
                </a:solidFill>
                <a:latin typeface="Aptos"/>
              </a:defRPr>
            </a:pPr>
            <a:r>
              <a:t>REAL UI • SAMPLE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32304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04872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Operational/secondary interface captured from the live local application.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Read extracted full content associated with an indexed file.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23360"/>
            <a:ext cx="283464" cy="283464"/>
          </a:xfrm>
          <a:prstGeom prst="roundRect">
            <a:avLst>
              <a:gd name="adj" fmla="val 12000"/>
            </a:avLst>
          </a:prstGeom>
          <a:solidFill>
            <a:srgbClr val="38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28346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0A12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995928"/>
            <a:ext cx="23500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0">
                <a:solidFill>
                  <a:srgbClr val="EBF3F9"/>
                </a:solidFill>
                <a:latin typeface="Aptos"/>
              </a:defRPr>
            </a:pPr>
            <a:r>
              <a:t>Source: templates/file/full_content.html. Screenshot is authentic; content is the synthetic demo record or the actual setup/login state.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362456"/>
            <a:ext cx="7744967" cy="5029200"/>
          </a:xfrm>
          <a:prstGeom prst="roundRect">
            <a:avLst>
              <a:gd name="adj" fmla="val 12000"/>
            </a:avLst>
          </a:prstGeom>
          <a:solidFill>
            <a:srgbClr val="23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46_full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17320"/>
            <a:ext cx="7635240" cy="50125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SYLTHARAE-Pro | Enterprise Technical Briefing</dc:title>
  <dc:subject>Evidence-based architecture and operational review</dc:subject>
  <dc:creator>Arena.ai Agent Mode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